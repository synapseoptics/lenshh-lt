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15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1" d="100"/>
          <a:sy n="91" d="100"/>
        </p:scale>
        <p:origin x="567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742A89-198D-79A6-EF84-485740C5BE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ADBF6C-410F-5B46-79F5-3048D50A01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65AA7-D4BD-4507-9366-071F1627586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B9B1B-5A98-6CA9-5651-A8FF1A24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3C62D-72C5-CAE9-87B1-81909E6AB7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7CC1D-F11B-40CF-AB7F-3001B7925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310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607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657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LensHH-LT 1.0.115  |  GPU Pre-Screen Architecture</a:t>
            </a:r>
            <a:endParaRPr lang="en-US" sz="1100" dirty="0"/>
          </a:p>
        </p:txBody>
      </p:sp>
      <p:pic>
        <p:nvPicPr>
          <p:cNvPr id="4" name="Image 0" descr="C:\C1\logo_synapse_op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224" y="6361901"/>
            <a:ext cx="1206051" cy="4841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168" y="388983"/>
            <a:ext cx="5690246" cy="231264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10896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 i="0">
                <a:solidFill>
                  <a:srgbClr val="08293D"/>
                </a:solidFill>
                <a:latin typeface="Calibri"/>
              </a:rPr>
              <a:t>LensHH-LT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8620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400" b="0" i="0">
                <a:solidFill>
                  <a:srgbClr val="08293D"/>
                </a:solidFill>
                <a:latin typeface="Calibri"/>
              </a:rPr>
              <a:t>GPU Pre-Screen Architecture</a:t>
            </a:r>
            <a:endParaRPr sz="2400" b="0" i="0">
              <a:solidFill>
                <a:srgbClr val="08293D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4526280"/>
            <a:ext cx="112471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0" i="1">
                <a:solidFill>
                  <a:srgbClr val="555555"/>
                </a:solidFill>
                <a:latin typeface="Calibri"/>
              </a:rPr>
              <a:t>Value-only Multistart sieve, CPU analytic LM polish</a:t>
            </a:r>
            <a:endParaRPr sz="1600" b="0" i="1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349240"/>
            <a:ext cx="11247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b="0" i="0">
                <a:solidFill>
                  <a:srgbClr val="555555"/>
                </a:solidFill>
                <a:latin typeface="Calibri"/>
              </a:rPr>
              <a:t>Release</a:t>
            </a:r>
            <a:endParaRPr sz="1200" b="0" i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 b="1" i="0">
                <a:solidFill>
                  <a:srgbClr val="202020"/>
                </a:solidFill>
                <a:latin typeface="Calibri"/>
              </a:rPr>
              <a:t>LensHH-LT 1.0.115</a:t>
            </a:r>
            <a:endParaRPr sz="2000" b="1" i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1247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b="0" i="0">
                <a:solidFill>
                  <a:srgbClr val="555555"/>
                </a:solidFill>
                <a:latin typeface="Calibri"/>
              </a:rPr>
              <a:t>June 4, 2026</a:t>
            </a:r>
            <a:endParaRPr sz="1200" b="0" i="0">
              <a:solidFill>
                <a:srgbClr val="5555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A6FCFE-7683-32B7-790A-D7EBDDF4C1EF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A map for this deck — three flowcharts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B501A2-A24A-5D8C-442D-BBCD1AFE7B2B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Three flowcharts from the LensHH-LT user guide do the heavy lifting in this talk.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18B512-3704-B55F-2576-D4DDE8943376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0191A9F-8718-9109-BDBD-0E50E2221DCD}"/>
              </a:ext>
            </a:extLst>
          </p:cNvPr>
          <p:cNvSpPr txBox="1"/>
          <p:nvPr/>
        </p:nvSpPr>
        <p:spPr>
          <a:xfrm>
            <a:off x="406400" y="1422400"/>
            <a:ext cx="11341100" cy="14311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Multistart, CPU-only — the baseline Basin-Hopping loop every release before 1.0.115 ran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Inside one trial: HJ-LM — what each Multistart trial actually does on the CPU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Multistart with GPU pre-screen — what changes in 1.0.115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We walk the three diagrams first, then unpack the GPU mental model: one CUDA thread per candidate lens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E411A0-B6ED-E327-E290-1D55F7524506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All three diagrams live in docs/optimization.md and the User Guide PDF.</a:t>
            </a:r>
          </a:p>
        </p:txBody>
      </p:sp>
    </p:spTree>
    <p:extLst>
      <p:ext uri="{BB962C8B-B14F-4D97-AF65-F5344CB8AC3E}">
        <p14:creationId xmlns:p14="http://schemas.microsoft.com/office/powerpoint/2010/main" val="130701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562D5-32A4-D60B-3E39-34FD76C82CB9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Basin Hopping is the bottleneck of lens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A2C2D-E6F5-1575-8CFC-FFA8AB6BCCFA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Local LM converges in seconds — lens design is a global problem.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9B90BB-E782-4A9C-7526-7690242EE1F7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0EF883-F966-DC1D-3755-8A2307A1736B}"/>
              </a:ext>
            </a:extLst>
          </p:cNvPr>
          <p:cNvSpPr txBox="1"/>
          <p:nvPr/>
        </p:nvSpPr>
        <p:spPr>
          <a:xfrm>
            <a:off x="406400" y="1422400"/>
            <a:ext cx="11341100" cy="198515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The wall-clock budget of a real design session is dominated by Basin Hopping (Multistart + Metropolis acceptance) — the exploration of design space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Every accepted basin can re-anchor the search; every rejected basin still cost a full HJ-LM polish on the CPU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The fundamental design choice (Cooke vs double-Gauss vs split-flint) is made during exploration. Everything downstream is refinement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Speeding up Basin Hopping = speeding up the actual day-to-day work of a lens designer</a:t>
            </a:r>
          </a:p>
        </p:txBody>
      </p:sp>
    </p:spTree>
    <p:extLst>
      <p:ext uri="{BB962C8B-B14F-4D97-AF65-F5344CB8AC3E}">
        <p14:creationId xmlns:p14="http://schemas.microsoft.com/office/powerpoint/2010/main" val="154073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9A29D3-85A2-3B25-A4AB-26055A552CB2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Multistart today: the CPU-only baseline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6717A-F555-C2D5-4FDF-E0CF49979871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Same outer Basin-Hopping loop every release before 1.0.115.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079BE8-D023-3E18-37D4-E61DF9FBC870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A3ABE16-7E58-2359-44BB-70784529403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422400"/>
            <a:ext cx="2794000" cy="482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05A562-C81A-4610-0599-2FCDB9495159}"/>
              </a:ext>
            </a:extLst>
          </p:cNvPr>
          <p:cNvSpPr txBox="1"/>
          <p:nvPr/>
        </p:nvSpPr>
        <p:spPr>
          <a:xfrm>
            <a:off x="3556000" y="1422400"/>
            <a:ext cx="8191500" cy="223138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Phase 1: initial LM refines the user start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Phase 2: spawn N_CPU trials in parallel — every trial is a full HJ-LM polish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Each trial is expensive: a typical 20-surface multi-field polish ~80 ms times LM iterations times N_CPU cores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Merge, accept best-of-batch or run Metropolis, then loop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Throughput is bounded by HJ-LM cost times core count — the number of basins you can try in a fixed wall-clock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51E74-0EAF-929B-DA3D-05CBABA148FB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1_multistart.mmd in docs/build/diagrams/</a:t>
            </a:r>
          </a:p>
        </p:txBody>
      </p:sp>
    </p:spTree>
    <p:extLst>
      <p:ext uri="{BB962C8B-B14F-4D97-AF65-F5344CB8AC3E}">
        <p14:creationId xmlns:p14="http://schemas.microsoft.com/office/powerpoint/2010/main" val="87994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DE4145-B974-B187-43EE-22B0833F534A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Inside one trial: HJ-LM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A048-C4C6-5057-3B63-51ED113EFE5B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What each Multistart trial actually does on the CPU.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4AD92B-7462-67F2-7340-91618FC76077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0D3A774-CCE3-D08F-32E6-AD5B03E931D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422400"/>
            <a:ext cx="2794000" cy="482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ACD7FE-D8E7-28A0-924E-66C19A3E8DCC}"/>
              </a:ext>
            </a:extLst>
          </p:cNvPr>
          <p:cNvSpPr txBox="1"/>
          <p:nvPr/>
        </p:nvSpPr>
        <p:spPr>
          <a:xfrm>
            <a:off x="3556000" y="1422400"/>
            <a:ext cx="8191500" cy="18928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Each trial clones the system, rolls a glass-swap dice, then perturbs continuous variables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Glass-swap trials get Hooke-Jeeves pattern search PLUS Levenberg-Marquardt (HJ helps escape sharp local minima from the swap)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Continuous trials run LM only — HJ is skipped by default since 2026-05-31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LM with analytical Jacobian (1.0.115) drops the per-iteration cost ~4x vs FD — that win compounds across every trial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5F96D7-6D25-26BD-AB18-2B6632E87ED5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2_hj_lm.mmd in docs/build/diagrams/</a:t>
            </a:r>
          </a:p>
        </p:txBody>
      </p:sp>
    </p:spTree>
    <p:extLst>
      <p:ext uri="{BB962C8B-B14F-4D97-AF65-F5344CB8AC3E}">
        <p14:creationId xmlns:p14="http://schemas.microsoft.com/office/powerpoint/2010/main" val="1033720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28DE32-A014-4914-5191-A1605E83A586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Multistart with GPU pre-screen — 1.0.115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97A873-AD22-68C1-E0F6-D0EFA24B251B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Same outer loop. One stage added between candidate generation and HJ-LM polish.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952828-D083-529C-112A-5286000978E4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CF073ED-25B8-C3F2-9CD8-283178821B3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422400"/>
            <a:ext cx="2794000" cy="482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76B7AB-32E4-D208-6D12-81320788C3A2}"/>
              </a:ext>
            </a:extLst>
          </p:cNvPr>
          <p:cNvSpPr txBox="1"/>
          <p:nvPr/>
        </p:nvSpPr>
        <p:spPr>
          <a:xfrm>
            <a:off x="3556000" y="1422400"/>
            <a:ext cx="8191500" cy="215443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GENERATE N = 1,000 to 10,000 candidates — much wider than the CPU could ever polish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GPU PRE-SCREEN: one CUDA launch, full merit value per candidate, ~60 us per design on a 4060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Sort by merit, keep top-K (K = N_CPU, typically 16 to 64) — the rest are abandoned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CPU HJ-LM polish runs only on the survivors — same cost as before, applied to better candidates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DBBD54-78BB-C6A2-A81E-1736F15470E3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3_gpu_prescreen.mmd in docs/build/diagrams/</a:t>
            </a:r>
          </a:p>
        </p:txBody>
      </p:sp>
    </p:spTree>
    <p:extLst>
      <p:ext uri="{BB962C8B-B14F-4D97-AF65-F5344CB8AC3E}">
        <p14:creationId xmlns:p14="http://schemas.microsoft.com/office/powerpoint/2010/main" val="15768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34DE37-C274-8F47-872E-90EA9F2BB255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How it looks in 1.0.115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506A7-0A8C-AEC0-9E8D-362789A78476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The GPU pre-screen toggle in the Multistart dialog — Beta-labeled, auto-disabled when the design uses features the GPU kernel does not cover.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33594C-7FC2-54F5-CDEE-DB4DE3638B38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F834B79-3F3E-43A6-6DD7-16A481E5469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422400"/>
            <a:ext cx="5334000" cy="4076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DB5E78-6FFC-C95D-7256-493572D8F500}"/>
              </a:ext>
            </a:extLst>
          </p:cNvPr>
          <p:cNvSpPr txBox="1"/>
          <p:nvPr/>
        </p:nvSpPr>
        <p:spPr>
          <a:xfrm>
            <a:off x="6096000" y="1422400"/>
            <a:ext cx="5651500" cy="241604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Engine / Derivative controls sit alongside the Hardware acceleration strip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GPU pre-screen toggle defaults ON when a CUDA device is detected and the active design is GPU-eligible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Auto-disables with a visible reason when it cannot help (aspherics today, certain multi-config layouts)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 sz="1700">
                <a:solidFill>
                  <a:srgbClr val="202020"/>
                </a:solidFill>
                <a:latin typeface="Calibri" panose="020F0502020204030204" pitchFamily="34" charset="0"/>
              </a:rPr>
              <a:t>Same dialog, same workflow as before — pre-screen is an additive option, never a behavior change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065F4-9835-F348-A892-555DB34FCBC9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Beta in 1.0.115 — surface will harden as we collect production feedback.</a:t>
            </a:r>
          </a:p>
        </p:txBody>
      </p:sp>
    </p:spTree>
    <p:extLst>
      <p:ext uri="{BB962C8B-B14F-4D97-AF65-F5344CB8AC3E}">
        <p14:creationId xmlns:p14="http://schemas.microsoft.com/office/powerpoint/2010/main" val="4071866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1CA64-93C5-ECA9-736D-2DC6E9D9440C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The shift: wider exploration in the same wall-clock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CBCCC-AAB1-7749-DF6E-3D2E54268C56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Pre-screen cost is ~1000x cheaper per candidate than HJ-LM polish.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E8FF77-6883-D089-8DE8-23DB7265825A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3E374A-D7BE-0A63-C30E-FC07B076E3F9}"/>
              </a:ext>
            </a:extLst>
          </p:cNvPr>
          <p:cNvSpPr txBox="1"/>
          <p:nvPr/>
        </p:nvSpPr>
        <p:spPr>
          <a:xfrm>
            <a:off x="406400" y="1422400"/>
            <a:ext cx="11341100" cy="23391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Pre-screen ~60 us per candidate on GPU vs HJ-LM ~80 ms per candidate on CPU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For the same wall-clock that CPU-only spent polishing K candidates, 1.0.115 can pre-screen 1,000K candidates AND polish the K best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CPU-only Basin Hopping was always picking the best-of-K random shots; 1.0.115 picks the best-of-1000K random shots, then polishes those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The exploration radius around the current center grows because we sample more before committing budget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Same Metropolis acceptance, same convergence guarantees — just a wider net cast at each step</a:t>
            </a:r>
          </a:p>
        </p:txBody>
      </p:sp>
    </p:spTree>
    <p:extLst>
      <p:ext uri="{BB962C8B-B14F-4D97-AF65-F5344CB8AC3E}">
        <p14:creationId xmlns:p14="http://schemas.microsoft.com/office/powerpoint/2010/main" val="1324249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EC9AE-A792-40C8-0EC6-070BB9D8ADE0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Every lens is a thread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39DD79-8130-F79C-40A2-F1FC2952DBD4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The CUDA mental model behind the pre-screen kernel.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72D36C-AD9D-3B24-A7FE-1F6A0BBE7C33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AD67EC0-6AF2-3321-1A73-7E11F5685C03}"/>
              </a:ext>
            </a:extLst>
          </p:cNvPr>
          <p:cNvSpPr txBox="1"/>
          <p:nvPr/>
        </p:nvSpPr>
        <p:spPr>
          <a:xfrm>
            <a:off x="406400" y="1422400"/>
            <a:ext cx="113411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CUDA grid: gridDim = (N candidates), one thread per candidate design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Each thread loads only its own variables — curvature[V], thickness[V], conic[V], material_ids[N_surfaces]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All threads execute the SAME code: the whole evaluate_merit value path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Session-persistent device data shared by all threads: glass catalog, fields, operands, merit template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Thread divergence is data-driven, not code-driven — same instructions, different lens</a:t>
            </a:r>
          </a:p>
        </p:txBody>
      </p:sp>
    </p:spTree>
    <p:extLst>
      <p:ext uri="{BB962C8B-B14F-4D97-AF65-F5344CB8AC3E}">
        <p14:creationId xmlns:p14="http://schemas.microsoft.com/office/powerpoint/2010/main" val="894513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62A32B-2416-CCEC-A819-A2120A89035C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How big is the batch, and how fast does it run?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AE904-ED21-B636-328F-1D9974922D2F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Each lens is a thread. The per-SM concurrent thread budget is FUNCTION-DEPENDENT — set by register and shared-memory pressure per thread.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A947C5-649E-CC19-0522-0E38D6ECF06C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E4AECF8-2FD0-20BC-2242-79D2D50BC582}"/>
              </a:ext>
            </a:extLst>
          </p:cNvPr>
          <p:cNvSpPr txBox="1"/>
          <p:nvPr/>
        </p:nvSpPr>
        <p:spPr>
          <a:xfrm>
            <a:off x="406400" y="1422400"/>
            <a:ext cx="11341100" cy="42319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evaluate_merit is register-heavy (ray trace + refraction + operand scratch per thread): 256 concurrent threads per SM is the practical budget — well below the hardware's theoretical 1,536-2,048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Resident-thread budget per launch = N_SMs x 256: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   RTX 4060 (consumer):   24 x 256 = ~6,100 resident lenses (one wave)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   A100 80GB (data center):  108 x 256 = ~27,600 resident lenses — about 4.5x wider wave than 4060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   H100 SXM5 (data center):  132 x 256 = ~33,800 resident lenses — about 5.5x wider wave than 4060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Launching more candidates than one wave is fine — extra warps queue and run as later waves; the SM never idles. The 256 number is wave width, not the launch cap.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Throughput follows the total FP64 TFLOPS ratio.  4060 = 0.24 TFLOPS, A100 = 9.7 TFLOPS, H100 = 34 TFLOPS.  evaluate_merit is FP64-compute-bound (sin / cos / sqrt / division per ray, state lives in registers), so wall-clock scales close to the TFLOPS ratio — memory bandwidth (~7x A100, ~12x H100) sets a floor but does not bind here.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A100 vs 4060: ~40x throughput — process ~40x more lenses per second, or finish the same batch in ~1/40 the time.  H100 vs 4060: ~140x throughput.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31C3C-F504-A19E-08EF-F475B5B6408E}"/>
              </a:ext>
            </a:extLst>
          </p:cNvPr>
          <p:cNvSpPr txBox="1"/>
          <p:nvPr/>
        </p:nvSpPr>
        <p:spPr>
          <a:xfrm>
            <a:off x="406400" y="6477000"/>
            <a:ext cx="113411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Net effect: A100 finishes the same Multistart loop ~40x faster than 4060, OR covers ~40x more candidates in the same wall-clock minute. H100 pushes that to ~140x. The 4.5x wider wave on A100 is HOW it gets there — not a separate factor on top.</a:t>
            </a:r>
          </a:p>
        </p:txBody>
      </p:sp>
    </p:spTree>
    <p:extLst>
      <p:ext uri="{BB962C8B-B14F-4D97-AF65-F5344CB8AC3E}">
        <p14:creationId xmlns:p14="http://schemas.microsoft.com/office/powerpoint/2010/main" val="1534872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AD63E-C761-E967-A120-20F6A4685945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Why filling GPU occupancy matters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B6FA9-F627-633F-C310-FA2058EC124E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Memory latency is hidden by parallel work, not by faster cores.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37922A-427E-F649-E613-5F1BD2F1B733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2046C1F-EF68-70A0-29C3-247AFCEDDFAB}"/>
              </a:ext>
            </a:extLst>
          </p:cNvPr>
          <p:cNvSpPr txBox="1"/>
          <p:nvPr/>
        </p:nvSpPr>
        <p:spPr>
          <a:xfrm>
            <a:off x="406400" y="1422400"/>
            <a:ext cx="11341100" cy="261610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Global memory access takes ~400 to 800 cycles to return on a GPU — much longer than a CPU cache miss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A stalled thread is invisible if the SM can swap in another warp (32 threads) that is ready to run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Each SM needs MANY resident warps to keep its execution units fed — that is the definition of "occupancy". At 256 concurrent threads per SM we get 8 warps in flight per SM — enough to overlap typical memory latency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Under-occupied launches (a few candidates per SM, not a few thousand total) leave SMs idle on memory stalls — wasted silicon, no speedup vs CPU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Multistart's natural width — 1,000 to 10,000+ random candidates per outer iteration — saturates a consumer 4060's ~6K-thread budget and starts to make the A100's ~28K-thread budget worth paying for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55C62-B109-FA80-CFA2-06319AF4E4E5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Rule of thumb: launch enough candidates to fill the function-specific concurrent budget. Wider Multistart loops = better GPU utilization = closer to the FP64 ceiling.</a:t>
            </a:r>
          </a:p>
        </p:txBody>
      </p:sp>
    </p:spTree>
    <p:extLst>
      <p:ext uri="{BB962C8B-B14F-4D97-AF65-F5344CB8AC3E}">
        <p14:creationId xmlns:p14="http://schemas.microsoft.com/office/powerpoint/2010/main" val="2687033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AEDA90-B10B-6364-9040-BB648E770725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What runs on the device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EB2C6-705F-71BF-A752-F949EDB13006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Whole evaluate_merit value path, ported to __device__ via LENSHH_HD header refactor.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364A01-9F5E-DF06-3FD0-E3E6E02190CE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FB99E9-B538-FA26-CE72-19FB0BC7310E}"/>
              </a:ext>
            </a:extLst>
          </p:cNvPr>
          <p:cNvSpPr txBox="1"/>
          <p:nvPr/>
        </p:nvSpPr>
        <p:spPr>
          <a:xfrm>
            <a:off x="406400" y="1422400"/>
            <a:ext cx="11341100" cy="198515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About 1,560 lines of merit-eval code — paraxial, refraction, surface intersection, ray trace, robust ray-aim, exit-pupil trace, every operand family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Bit-equal to the CPU value path by construction — same source, just compiled for the device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Validation: representative imaging lenses (Cooke triplet at 6 surfaces, complex multi-element designs at 20+ surfaces) both produce delta = 0 vs CPU evaluate_merit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No derivatives, no Duals, no Jacobian — pure scalar value path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5BB4D9-92DF-6818-6186-E1BFC4FBEFCA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Phase G1.C: 10 slices, ~2,100 device lines, bedrock 134/134 native tests green throughout.</a:t>
            </a:r>
          </a:p>
        </p:txBody>
      </p:sp>
    </p:spTree>
    <p:extLst>
      <p:ext uri="{BB962C8B-B14F-4D97-AF65-F5344CB8AC3E}">
        <p14:creationId xmlns:p14="http://schemas.microsoft.com/office/powerpoint/2010/main" val="1045676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C250FE-3A63-A1E3-41DE-6C58CFE80D1F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Glass swap is a single 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63C1-B6EF-B92A-8616-CA9BC227130C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Discrete glass substitutions ride alongside continuous perturbations in the same launch.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2FD85C-1D93-4F8A-4E71-F295C962E934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10354A-6A50-790F-A90D-D7E3E7FBD0CE}"/>
              </a:ext>
            </a:extLst>
          </p:cNvPr>
          <p:cNvSpPr txBox="1"/>
          <p:nvPr/>
        </p:nvSpPr>
        <p:spPr>
          <a:xfrm>
            <a:off x="406400" y="1422400"/>
            <a:ext cx="113411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Device-side glass catalog stored once per session: K_glasses x W_wavelengths refractive-index table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Each candidate carries a material_ids[N_surfaces] int32 array — one int per surface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Swapping N-BK7 for N-SK16 on surface 3 changes ONE int — no host-&gt;device transfer, no re-upload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A single batched launch can mix continuous candidates with glass-swap variants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Combinatorial coverage of geometry x glass that single-trial CPU never had the budget for</a:t>
            </a:r>
          </a:p>
        </p:txBody>
      </p:sp>
    </p:spTree>
    <p:extLst>
      <p:ext uri="{BB962C8B-B14F-4D97-AF65-F5344CB8AC3E}">
        <p14:creationId xmlns:p14="http://schemas.microsoft.com/office/powerpoint/2010/main" val="3287982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2662C1-543A-BE78-4A53-E158CCA71538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Why value-only? Why not GPU Jacobian?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4979B-BD01-F8CD-06C7-8AA55C8CD068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Use each piece of silicon where it wins.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2E619F-654A-6B27-33E0-27C6F0CD2FEC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7278B9-9B02-F4FE-0CCE-8BC45E90B5A7}"/>
              </a:ext>
            </a:extLst>
          </p:cNvPr>
          <p:cNvSpPr txBox="1"/>
          <p:nvPr/>
        </p:nvSpPr>
        <p:spPr>
          <a:xfrm>
            <a:off x="406400" y="1422400"/>
            <a:ext cx="113411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Consumer GPU FP64 throughput is the binding constraint: ~0.23 TFLOPS on a 4060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CPU AVX2 FP64 is comparable or better for sequential dual-number derivative work — about 0.8 TFLOPS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CPU analytic Jacobian on a typical multi-field merit is already 13 ms (4x faster than FD)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GPU comparative advantage is WIDTH — thousands of independent candidates, not narrow derivative chains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GPU for pre-screen breadth, CPU for analytic LM depth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BDE9A-AD2F-F3F4-2E0D-470D238D5502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A100 raises the FP64 ceiling — a full-LM GPU port becomes attractive on data-center hardware. Open question, not a 1.0.115 promise.</a:t>
            </a:r>
          </a:p>
        </p:txBody>
      </p:sp>
    </p:spTree>
    <p:extLst>
      <p:ext uri="{BB962C8B-B14F-4D97-AF65-F5344CB8AC3E}">
        <p14:creationId xmlns:p14="http://schemas.microsoft.com/office/powerpoint/2010/main" val="959544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E1AF28-5051-D97E-D3CA-E2E353A6E9A6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GPU FP64 landscape — consumer to data center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0A393-730A-C80A-9AC4-FDBACF623E63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Why "value-only" is the right architectural choice for consumer GPUs — and what scales on A100 / H100.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BC973E-DB16-73B8-6BFD-633D1B9DF890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43D4FB-D1D2-AD78-06D6-94D088002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621747"/>
              </p:ext>
            </p:extLst>
          </p:nvPr>
        </p:nvGraphicFramePr>
        <p:xfrm>
          <a:off x="406400" y="1524000"/>
          <a:ext cx="113411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300">
                  <a:extLst>
                    <a:ext uri="{9D8B030D-6E8A-4147-A177-3AD203B41FA5}">
                      <a16:colId xmlns:a16="http://schemas.microsoft.com/office/drawing/2014/main" val="1318701478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513760867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329304878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796652565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3998183439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713246708"/>
                    </a:ext>
                  </a:extLst>
                </a:gridCol>
              </a:tblGrid>
              <a:tr h="689429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SMs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FP32 (TFLOPS)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FP64 (TFLOPS)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Memory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Bandwidth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758486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RTX 4060 (desktop)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15.1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8 GB GDDR6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0.272 TB/s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112688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A100 80GB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19.5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9.7 vector / 19.5 tensor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80 GB HBM2e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2.0 TB/s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247899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H100 SXM5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132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34 vector / 67 tensor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80 GB HBM3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3.35 TB/s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932170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H200 SXM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132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34 vector / 67 tensor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141 GB HBM3e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4.8 TB/s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125016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B200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148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70-80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40 tensor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192 GB HBM3e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8 TB/s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616446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B300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148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1.4 (FP64 gutted)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288 GB HBM3e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8 TB/s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2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FAC7756-D864-9482-CD60-BB105F77E73C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Consumer 4060 FP64 ~0.24 TFLOPS, data-center A100 vector FP64 ~9.7 TFLOPS — a ~40x ceiling lift. Note Blackwell B300 explicitly gutted FP64 for AI workloads.</a:t>
            </a:r>
          </a:p>
        </p:txBody>
      </p:sp>
    </p:spTree>
    <p:extLst>
      <p:ext uri="{BB962C8B-B14F-4D97-AF65-F5344CB8AC3E}">
        <p14:creationId xmlns:p14="http://schemas.microsoft.com/office/powerpoint/2010/main" val="4066899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5E37B-82E1-A9BE-5F2D-3CAF9DEB5E66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FP64 per dollar — what each tier actually costs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91038-A316-8A29-1E8B-80DE60BF40EB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Throughput-per-dollar drives the deployment decision. Cloud rental is where the real lever is.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9860EF-3C5B-DEB2-35CD-94FDAEF0E8B8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AA8A-6BF0-8574-B483-B5D911DF4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854558"/>
              </p:ext>
            </p:extLst>
          </p:nvPr>
        </p:nvGraphicFramePr>
        <p:xfrm>
          <a:off x="406400" y="1524000"/>
          <a:ext cx="113411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100">
                  <a:extLst>
                    <a:ext uri="{9D8B030D-6E8A-4147-A177-3AD203B41FA5}">
                      <a16:colId xmlns:a16="http://schemas.microsoft.com/office/drawing/2014/main" val="988507063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1677866028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4018170561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1815514217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3458808921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657353597"/>
                    </a:ext>
                  </a:extLst>
                </a:gridCol>
              </a:tblGrid>
              <a:tr h="689429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Vector FP64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Buy (USD)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FP64 / $1k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Cloud $/hr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FP64 per $/hr</a:t>
                      </a:r>
                    </a:p>
                  </a:txBody>
                  <a:tcPr marL="76200" marR="76200" marT="50800" marB="50800">
                    <a:solidFill>
                      <a:srgbClr val="08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179700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RTX 4060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0.80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643273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A100 80GB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9.7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10,000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0.97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1.50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482992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H100 SXM5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28,000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1.21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2.50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13.6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467505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H200 SXM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32,000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1.06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3.70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9.2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536310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B200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20 (est)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35,000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0.57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5.50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284902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B300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1.4 (est)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40,000+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0.035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02020"/>
                          </a:solidFill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8293D"/>
                          </a:solidFill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6200" marR="76200" marT="38100" marB="38100"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7427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0E30882-8963-D259-4760-1894D734BF4D}"/>
              </a:ext>
            </a:extLst>
          </p:cNvPr>
          <p:cNvSpPr txBox="1"/>
          <p:nvPr/>
        </p:nvSpPr>
        <p:spPr>
          <a:xfrm>
            <a:off x="406400" y="6477000"/>
            <a:ext cx="113411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rgbClr val="555555"/>
                </a:solidFill>
                <a:latin typeface="Calibri" panose="020F0502020204030204" pitchFamily="34" charset="0"/>
              </a:rPr>
              <a:t>Cloud H100 at $2.50/hr buys the most FP64 per dollar-hour. Buying a 4060 for a developer desk still gives surprisingly good FP64 per dollar.</a:t>
            </a:r>
          </a:p>
        </p:txBody>
      </p:sp>
    </p:spTree>
    <p:extLst>
      <p:ext uri="{BB962C8B-B14F-4D97-AF65-F5344CB8AC3E}">
        <p14:creationId xmlns:p14="http://schemas.microsoft.com/office/powerpoint/2010/main" val="3804932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166EFD-6C2D-DB43-B7A6-9AC1DED9075D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Measured throughput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A39D6-18BC-623E-E035-95B92A65D1C9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Where 1.0.115 lands on real fixtures.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508E8E-3381-2D10-C852-8CDC27817A04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69629CB-0141-C199-59F5-5DEB2D55B316}"/>
              </a:ext>
            </a:extLst>
          </p:cNvPr>
          <p:cNvSpPr txBox="1"/>
          <p:nvPr/>
        </p:nvSpPr>
        <p:spPr>
          <a:xfrm>
            <a:off x="406400" y="1422400"/>
            <a:ext cx="11341100" cy="261610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Consumer 4060 (24 SMs, sm_89): about 2x end-to-end Multistart speedup across a representative range of imaging lenses (6 to 20+ surfaces)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Per-design value cost ~60 us — thousands of candidates per second on commodity hardware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CPU pieces (analytic LM, hybrid CT-family / TTRACK / span ops) keep their existing speed unchanged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A100 (data-center): code path is implemented end-to-end and expected to scale with FP64 throughput; cloud-test validation pending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Combined with the analytic-Jacobian + oversubscription fixes, 1.0.115 is the biggest end-to-end Multistart speedup the project has shipped</a:t>
            </a:r>
          </a:p>
        </p:txBody>
      </p:sp>
    </p:spTree>
    <p:extLst>
      <p:ext uri="{BB962C8B-B14F-4D97-AF65-F5344CB8AC3E}">
        <p14:creationId xmlns:p14="http://schemas.microsoft.com/office/powerpoint/2010/main" val="1148537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62708-ACBA-331B-A1A9-A592C038CB72}"/>
              </a:ext>
            </a:extLst>
          </p:cNvPr>
          <p:cNvSpPr txBox="1"/>
          <p:nvPr/>
        </p:nvSpPr>
        <p:spPr>
          <a:xfrm>
            <a:off x="406400" y="508000"/>
            <a:ext cx="113411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8293D"/>
                </a:solidFill>
                <a:latin typeface="Calibri" panose="020F0502020204030204" pitchFamily="34" charset="0"/>
              </a:rPr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72C0C4-D167-CA02-1C8B-646D19224F4F}"/>
              </a:ext>
            </a:extLst>
          </p:cNvPr>
          <p:cNvSpPr txBox="1"/>
          <p:nvPr/>
        </p:nvSpPr>
        <p:spPr>
          <a:xfrm>
            <a:off x="406400" y="1143000"/>
            <a:ext cx="113411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55555"/>
                </a:solidFill>
                <a:latin typeface="Calibri" panose="020F0502020204030204" pitchFamily="34" charset="0"/>
              </a:rPr>
              <a:t>One mental model, three numbers.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2D787D-7EC9-D5F2-C209-EDF53F3A550D}"/>
              </a:ext>
            </a:extLst>
          </p:cNvPr>
          <p:cNvCxnSpPr/>
          <p:nvPr/>
        </p:nvCxnSpPr>
        <p:spPr>
          <a:xfrm>
            <a:off x="406400" y="1079500"/>
            <a:ext cx="113411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4157F21-A3DE-27E2-5EDD-FF9F29C5586B}"/>
              </a:ext>
            </a:extLst>
          </p:cNvPr>
          <p:cNvSpPr txBox="1"/>
          <p:nvPr/>
        </p:nvSpPr>
        <p:spPr>
          <a:xfrm>
            <a:off x="406400" y="1422400"/>
            <a:ext cx="113411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Basin Hopping (Multistart + Metropolis) dominates the wall-clock of a real lens-design session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Every lens is a thread — N candidate designs evaluated in one CUDA launch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GPU runs the whole merit function VALUE — no derivatives, no Jacobian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CPU does the analytical Jacobian during HJ-LM polish on the top-K survivors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n-US">
                <a:solidFill>
                  <a:srgbClr val="202020"/>
                </a:solidFill>
                <a:latin typeface="Calibri" panose="020F0502020204030204" pitchFamily="34" charset="0"/>
              </a:rPr>
              <a:t>Net effect: same Basin-Hopping loop, but the exploration radius widens by ~1000x for the same wall-clock</a:t>
            </a:r>
          </a:p>
        </p:txBody>
      </p:sp>
    </p:spTree>
    <p:extLst>
      <p:ext uri="{BB962C8B-B14F-4D97-AF65-F5344CB8AC3E}">
        <p14:creationId xmlns:p14="http://schemas.microsoft.com/office/powerpoint/2010/main" val="1631544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2196</Words>
  <Application>Microsoft Office PowerPoint</Application>
  <PresentationFormat>Widescreen</PresentationFormat>
  <Paragraphs>207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Synapse Optics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LensHH-LT — Tanabe Example 2 Initial Results</dc:title>
  <dc:subject>LensHH-LT demonstration: Tanabe US 12,321,041 B2 Example 2</dc:subject>
  <dc:creator>Synapse Optics</dc:creator>
  <cp:lastModifiedBy>Javier Ruiz</cp:lastModifiedBy>
  <cp:revision>21</cp:revision>
  <dcterms:created xsi:type="dcterms:W3CDTF">2026-05-10T16:49:25Z</dcterms:created>
  <dcterms:modified xsi:type="dcterms:W3CDTF">2026-06-04T22:09:13Z</dcterms:modified>
</cp:coreProperties>
</file>
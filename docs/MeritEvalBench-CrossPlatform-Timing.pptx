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2926080" cy="1035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56082"/>
                </a:solidFill>
                <a:latin typeface="Aptos"/>
              </a:rPr>
              <a:t>LensHH-LT  ·  MeritEvalBench</a:t>
            </a:r>
          </a:p>
          <a:p>
            <a:r>
              <a:rPr sz="4400" b="1" i="0">
                <a:solidFill>
                  <a:srgbClr val="0E2841"/>
                </a:solidFill>
                <a:latin typeface="Aptos Display"/>
              </a:rPr>
              <a:t>Merit-Function Throughput</a:t>
            </a:r>
          </a:p>
          <a:p>
            <a:r>
              <a:rPr sz="4400" b="1" i="0">
                <a:solidFill>
                  <a:srgbClr val="0E2841"/>
                </a:solidFill>
                <a:latin typeface="Aptos Display"/>
              </a:rPr>
              <a:t>Across CPUs and GPUs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595959"/>
                </a:solidFill>
                <a:latin typeface="Aptos"/>
              </a:rPr>
              <a:t>Eight systems · three lenses · one bit-identical kernel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595959"/>
                </a:solidFill>
                <a:latin typeface="Aptos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E2841"/>
                </a:solidFill>
                <a:latin typeface="Aptos Display"/>
              </a:rPr>
              <a:t>Eight systems, one binary</a:t>
            </a:r>
          </a:p>
          <a:p>
            <a:r>
              <a:rPr sz="1500" b="0" i="1">
                <a:solidFill>
                  <a:srgbClr val="156082"/>
                </a:solidFill>
                <a:latin typeface="Aptos"/>
              </a:rPr>
              <a:t>From a fanless laptop to an H100 — the same MeritEvalBench, the same engine.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468880"/>
                <a:gridCol w="2103120"/>
                <a:gridCol w="2926080"/>
                <a:gridCol w="2011680"/>
              </a:tblGrid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System</a:t>
                      </a:r>
                    </a:p>
                  </a:txBody>
                  <a:tcPr marL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CPU</a:t>
                      </a:r>
                    </a:p>
                  </a:txBody>
                  <a:tcPr marL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GPU</a:t>
                      </a:r>
                    </a:p>
                  </a:txBody>
                  <a:tcPr marL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GPU arch (SMs)</a:t>
                      </a:r>
                    </a:p>
                  </a:txBody>
                  <a:tcPr marL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Mem BW</a:t>
                      </a:r>
                    </a:p>
                  </a:txBody>
                  <a:tcPr marL="73152" marT="27432" marB="27432" anchor="ctr">
                    <a:solidFill>
                      <a:srgbClr val="0E2841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E2841"/>
                          </a:solidFill>
                          <a:latin typeface="Aptos"/>
                        </a:rPr>
                        <a:t>Laptop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Core i7-1255U (12T)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 (Iris Xe)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E2841"/>
                          </a:solidFill>
                          <a:latin typeface="Aptos"/>
                        </a:rPr>
                        <a:t>MacBook Air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Apple Silicon (ARM64)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 (integrated)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E2841"/>
                          </a:solidFill>
                          <a:latin typeface="Aptos"/>
                        </a:rPr>
                        <a:t>Mini-desktop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Ryzen 3 5300G (8T)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 (Radeon)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E2841"/>
                          </a:solidFill>
                          <a:latin typeface="Aptos"/>
                        </a:rPr>
                        <a:t>Desktop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Core i5-13400F (16T)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RTX 4060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Ada sm_89 (24)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272 GB/s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E2841"/>
                          </a:solidFill>
                          <a:latin typeface="Aptos"/>
                        </a:rPr>
                        <a:t>Workstation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Ryzen 7 9800X3D (16T)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RTX 5070 Ti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Blackwell sm_120 (70)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~896 GB/s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E2841"/>
                          </a:solidFill>
                          <a:latin typeface="Aptos"/>
                        </a:rPr>
                        <a:t>Cloud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16 vCPU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A100 40GB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Ampere sm_80 (108)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~1.55 TB/s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E2841"/>
                          </a:solidFill>
                          <a:latin typeface="Aptos"/>
                        </a:rPr>
                        <a:t>Cloud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24 vCPU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H100 80GB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Hopper sm_90 (132)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~3.35 TB/s</a:t>
                      </a:r>
                    </a:p>
                  </a:txBody>
                  <a:tcPr marL="73152" marT="27432" marB="27432" anchor="ctr"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E2841"/>
                          </a:solidFill>
                          <a:latin typeface="Aptos"/>
                        </a:rPr>
                        <a:t>Cloud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E2841"/>
                          </a:solidFill>
                          <a:latin typeface="Aptos"/>
                        </a:rPr>
                        <a:t>28 vCPU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RTX PRO 6000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Blackwell sm_120 (188)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56082"/>
                          </a:solidFill>
                          <a:latin typeface="Aptos"/>
                        </a:rPr>
                        <a:t>~1.79 TB/s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595959"/>
                </a:solidFill>
                <a:latin typeface="Aptos"/>
              </a:rPr>
              <a:t>Linux / Windows / macOS · GPU via prebuilt native cubin (sm_80/89/90/120) — no CUDA toolkit on the target machine.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55080"/>
            <a:ext cx="1371600" cy="4855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E2841"/>
                </a:solidFill>
                <a:latin typeface="Aptos Display"/>
              </a:rPr>
              <a:t>Three test lenses</a:t>
            </a:r>
          </a:p>
          <a:p>
            <a:r>
              <a:rPr sz="1500" b="0" i="1">
                <a:solidFill>
                  <a:srgbClr val="156082"/>
                </a:solidFill>
                <a:latin typeface="Aptos"/>
              </a:rPr>
              <a:t>Small to large merit functions — the GPU advantage grows with merit size.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500" b="1" i="0">
                <a:solidFill>
                  <a:srgbClr val="0E2841"/>
                </a:solidFill>
                <a:latin typeface="Aptos"/>
              </a:rPr>
              <a:t>triplet1 — </a:t>
            </a:r>
            <a:r>
              <a:rPr sz="1500" b="0" i="0">
                <a:solidFill>
                  <a:srgbClr val="595959"/>
                </a:solidFill>
                <a:latin typeface="Aptos"/>
              </a:rPr>
              <a:t>Cooke triplet, 8 surfaces, 12 variables. Light merit: 7 operands → 240 expanded.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500" b="1" i="0">
                <a:solidFill>
                  <a:srgbClr val="0E2841"/>
                </a:solidFill>
                <a:latin typeface="Aptos"/>
              </a:rPr>
              <a:t>Tanabe1 — </a:t>
            </a:r>
            <a:r>
              <a:rPr sz="1500" b="0" i="0">
                <a:solidFill>
                  <a:srgbClr val="595959"/>
                </a:solidFill>
                <a:latin typeface="Aptos"/>
              </a:rPr>
              <a:t>imaging lens (US 12,321,041 B2, Example 2), 21 surfaces, 36 variables. WAVEX wavefront-error operand on Forbes quadrature, 6 rings × 12 arms: 8 operands → 241 expanded.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500" b="1" i="0">
                <a:solidFill>
                  <a:srgbClr val="0E2841"/>
                </a:solidFill>
                <a:latin typeface="Aptos"/>
              </a:rPr>
              <a:t>Tanabe2 — </a:t>
            </a:r>
            <a:r>
              <a:rPr sz="1500" b="0" i="0">
                <a:solidFill>
                  <a:srgbClr val="595959"/>
                </a:solidFill>
                <a:latin typeface="Aptos"/>
              </a:rPr>
              <a:t>same lens and WAVEX, plus a SENS sensitivity operand for manufacturability. SENS perturbs every surface, expanding the merit to 8 operands → 4,686 sub-operands — ~19× more work per evaluation.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500" b="1" i="0">
                <a:solidFill>
                  <a:srgbClr val="0E2841"/>
                </a:solidFill>
                <a:latin typeface="Aptos"/>
              </a:rPr>
              <a:t>All three — </a:t>
            </a:r>
            <a:r>
              <a:rPr sz="1500" b="0" i="0">
                <a:solidFill>
                  <a:srgbClr val="595959"/>
                </a:solidFill>
                <a:latin typeface="Aptos"/>
              </a:rPr>
              <a:t>3 wavelengths, 3 fields, infinite conjugate; the identical merit runs on every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595959"/>
                </a:solidFill>
                <a:latin typeface="Aptos"/>
              </a:rPr>
              <a:t>Tanabe lens: Tanabe et al., U.S. Patent US 12,321,041 B2 — Example 2.  Operand counts from MeritEvalBench expansion (n operands → m expanded).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55080"/>
            <a:ext cx="1371600" cy="4855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E2841"/>
                </a:solidFill>
                <a:latin typeface="Aptos Display"/>
              </a:rPr>
              <a:t>Merit evaluations per second — CPU vs GPU</a:t>
            </a:r>
          </a:p>
          <a:p>
            <a:r>
              <a:rPr sz="1500" b="0" i="1">
                <a:solidFill>
                  <a:srgbClr val="156082"/>
                </a:solidFill>
                <a:latin typeface="Aptos"/>
              </a:rPr>
              <a:t>Every lens is a GPU thread; the device evaluates thousands of designs at once.</a:t>
            </a:r>
          </a:p>
        </p:txBody>
      </p:sp>
      <p:pic>
        <p:nvPicPr>
          <p:cNvPr id="3" name="Picture 2" descr="fig_merit_cpu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81328"/>
            <a:ext cx="10698480" cy="47031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595959"/>
                </a:solidFill>
                <a:latin typeface="Aptos"/>
              </a:rPr>
              <a:t>CPU = best all-core throughput (C# / C++). GPU = whole-merit value kernel at device-fill. GPU output bit-identical to CPU (|GPU−CPU| ≤ 6.6e-14) on every card.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355080"/>
            <a:ext cx="1371600" cy="4855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E2841"/>
                </a:solidFill>
                <a:latin typeface="Aptos Display"/>
              </a:rPr>
              <a:t>C++ merit + analytic derivatives</a:t>
            </a:r>
          </a:p>
          <a:p>
            <a:r>
              <a:rPr sz="1500" b="0" i="1">
                <a:solidFill>
                  <a:srgbClr val="156082"/>
                </a:solidFill>
                <a:latin typeface="Aptos"/>
              </a:rPr>
              <a:t>Residuals and the full Jacobian in one pass — the CPU optimizer's hot path.</a:t>
            </a:r>
          </a:p>
        </p:txBody>
      </p:sp>
      <p:pic>
        <p:nvPicPr>
          <p:cNvPr id="3" name="Picture 2" descr="fig_analy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36192"/>
            <a:ext cx="10881360" cy="46344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595959"/>
                </a:solidFill>
                <a:latin typeface="Aptos"/>
              </a:rPr>
              <a:t>One evaluation = residuals + full Jacobian via forward-mode dual numbers (analytic). Runs on the CPU; the GPU path is value-only.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355080"/>
            <a:ext cx="1371600" cy="4855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E2841"/>
                </a:solidFill>
                <a:latin typeface="Aptos Display"/>
              </a:rPr>
              <a:t>What the numbers say</a:t>
            </a:r>
          </a:p>
          <a:p>
            <a:r>
              <a:rPr sz="1500" b="0" i="1">
                <a:solidFill>
                  <a:srgbClr val="156082"/>
                </a:solidFill>
                <a:latin typeface="Aptos"/>
              </a:rPr>
              <a:t>One mental model, portable everywhere.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600" b="1" i="0">
                <a:solidFill>
                  <a:srgbClr val="0E2841"/>
                </a:solidFill>
                <a:latin typeface="Aptos"/>
              </a:rPr>
              <a:t>Bit-identical everywhere — </a:t>
            </a:r>
            <a:r>
              <a:rPr sz="1600" b="0" i="0">
                <a:solidFill>
                  <a:srgbClr val="595959"/>
                </a:solidFill>
                <a:latin typeface="Aptos"/>
              </a:rPr>
              <a:t>the same kernel runs on laptop, desktop, Apple Silicon and datacenter; CPU and GPU agree to the FP64 noise floor.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600" b="1" i="0">
                <a:solidFill>
                  <a:srgbClr val="0E2841"/>
                </a:solidFill>
                <a:latin typeface="Aptos"/>
              </a:rPr>
              <a:t>Bandwidth-bound, not FP64-bound — </a:t>
            </a:r>
            <a:r>
              <a:rPr sz="1600" b="0" i="0">
                <a:solidFill>
                  <a:srgbClr val="595959"/>
                </a:solidFill>
                <a:latin typeface="Aptos"/>
              </a:rPr>
              <a:t>consumer Blackwell ≈ A100 despite ~14× less FP64; throughput tracks memory bandwidth.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600" b="1" i="0">
                <a:solidFill>
                  <a:srgbClr val="0E2841"/>
                </a:solidFill>
                <a:latin typeface="Aptos"/>
              </a:rPr>
              <a:t>The GPU win grows with merit size — </a:t>
            </a:r>
            <a:r>
              <a:rPr sz="1600" b="0" i="0">
                <a:solidFill>
                  <a:srgbClr val="595959"/>
                </a:solidFill>
                <a:latin typeface="Aptos"/>
              </a:rPr>
              <a:t>exactly where real lens-design optimization spends its time.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600" b="1" i="0">
                <a:solidFill>
                  <a:srgbClr val="0E2841"/>
                </a:solidFill>
                <a:latin typeface="Aptos"/>
              </a:rPr>
              <a:t>Native cubin, instant launch — </a:t>
            </a:r>
            <a:r>
              <a:rPr sz="1600" b="0" i="0">
                <a:solidFill>
                  <a:srgbClr val="595959"/>
                </a:solidFill>
                <a:latin typeface="Aptos"/>
              </a:rPr>
              <a:t>sm_80/89/90/120 prebuilt; the RTX 5070 Ti ran with no SDK installed, no first-run JIT.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E97132"/>
                </a:solidFill>
                <a:latin typeface="Aptos"/>
              </a:rPr>
              <a:t>▸  </a:t>
            </a:r>
            <a:r>
              <a:rPr sz="1600" b="1" i="0">
                <a:solidFill>
                  <a:srgbClr val="0E2841"/>
                </a:solidFill>
                <a:latin typeface="Aptos"/>
              </a:rPr>
              <a:t>C++ analytic Jacobian — </a:t>
            </a:r>
            <a:r>
              <a:rPr sz="1600" b="0" i="0">
                <a:solidFill>
                  <a:srgbClr val="595959"/>
                </a:solidFill>
                <a:latin typeface="Aptos"/>
              </a:rPr>
              <a:t>residuals + full Jacobian in one pass keeps the CPU LM polish fast across every machine.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55080"/>
            <a:ext cx="1371600" cy="4855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